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861"/>
    <p:restoredTop sz="94673"/>
  </p:normalViewPr>
  <p:slideViewPr>
    <p:cSldViewPr snapToGrid="0" snapToObjects="1">
      <p:cViewPr varScale="1">
        <p:scale>
          <a:sx n="197" d="100"/>
          <a:sy n="197" d="100"/>
        </p:scale>
        <p:origin x="1608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1A5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13687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Telco Customer Churn Prediction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34440"/>
            <a:ext cx="1136873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ICT6001 — AI Programme | Week 1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113687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ED6F1"/>
                </a:solidFill>
                <a:latin typeface="Calibri"/>
              </a:rPr>
              <a:t>Group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606040"/>
            <a:ext cx="54864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 dirty="0">
                <a:solidFill>
                  <a:srgbClr val="2C3E50"/>
                </a:solidFill>
                <a:latin typeface="Calibri"/>
              </a:rPr>
              <a:t>  Joyce Yeo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971800"/>
            <a:ext cx="54864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 dirty="0">
                <a:solidFill>
                  <a:srgbClr val="2C3E50"/>
                </a:solidFill>
                <a:latin typeface="Calibri"/>
              </a:rPr>
              <a:t>  </a:t>
            </a:r>
            <a:r>
              <a:rPr sz="1500" b="0" i="0" dirty="0" err="1">
                <a:solidFill>
                  <a:srgbClr val="2C3E50"/>
                </a:solidFill>
                <a:latin typeface="Calibri"/>
              </a:rPr>
              <a:t>KhoonSen</a:t>
            </a:r>
            <a:r>
              <a:rPr lang="en-US" sz="1500" b="0" i="0" dirty="0" err="1">
                <a:solidFill>
                  <a:srgbClr val="2C3E50"/>
                </a:solidFill>
                <a:latin typeface="Calibri"/>
              </a:rPr>
              <a:t>g</a:t>
            </a:r>
            <a:endParaRPr sz="1500" b="0" i="0" dirty="0">
              <a:solidFill>
                <a:srgbClr val="2C3E5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11480" y="3337560"/>
            <a:ext cx="54864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 dirty="0">
                <a:solidFill>
                  <a:srgbClr val="2C3E50"/>
                </a:solidFill>
                <a:latin typeface="Calibri"/>
              </a:rPr>
              <a:t>  </a:t>
            </a:r>
            <a:r>
              <a:rPr lang="en-US" sz="1500" b="0" i="0" dirty="0">
                <a:solidFill>
                  <a:srgbClr val="2C3E50"/>
                </a:solidFill>
                <a:latin typeface="Calibri"/>
              </a:rPr>
              <a:t>Lai Kin Wah</a:t>
            </a:r>
            <a:endParaRPr sz="1500" b="0" i="0" dirty="0">
              <a:solidFill>
                <a:srgbClr val="2C3E50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11480" y="5852160"/>
            <a:ext cx="113687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980B9"/>
                </a:solidFill>
                <a:latin typeface="Calibri"/>
              </a:rPr>
              <a:t>Repo :  &lt;repo link&gt;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217920"/>
            <a:ext cx="113687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980B9"/>
                </a:solidFill>
                <a:latin typeface="Calibri"/>
              </a:rPr>
              <a:t>Video:  &lt;YouTube link&gt;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91440"/>
            <a:ext cx="11368735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749808"/>
            <a:ext cx="11368735" cy="5696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500">
                <a:solidFill>
                  <a:srgbClr val="2C3E50"/>
                </a:solidFill>
                <a:latin typeface="Calibri"/>
              </a:rPr>
              <a:t>◆  Dataset: 594,194 Telco customers  |  Churn rate ~22.5%  |  Class imbalance handled with SMOTE</a:t>
            </a:r>
          </a:p>
          <a:p>
            <a:pPr algn="l">
              <a:spcBef>
                <a:spcPts val="300"/>
              </a:spcBef>
            </a:pPr>
            <a:r>
              <a:rPr sz="1500">
                <a:solidFill>
                  <a:srgbClr val="2C3E50"/>
                </a:solidFill>
                <a:latin typeface="Calibri"/>
              </a:rPr>
              <a:t>◆  3 model families compared via 5-fold stratified CV (ROC-AUC primary, Recall secondary)</a:t>
            </a:r>
          </a:p>
          <a:p>
            <a:pPr algn="l">
              <a:spcBef>
                <a:spcPts val="300"/>
              </a:spcBef>
            </a:pPr>
            <a:r>
              <a:rPr sz="1500">
                <a:solidFill>
                  <a:srgbClr val="2C3E50"/>
                </a:solidFill>
                <a:latin typeface="Calibri"/>
              </a:rPr>
              <a:t>◆  Champion: XGBoost (Boosting) — highest CV ROC-AUC</a:t>
            </a:r>
          </a:p>
          <a:p>
            <a:pPr algn="l">
              <a:spcBef>
                <a:spcPts val="300"/>
              </a:spcBef>
            </a:pPr>
            <a:r>
              <a:rPr sz="1500">
                <a:solidFill>
                  <a:srgbClr val="2C3E50"/>
                </a:solidFill>
                <a:latin typeface="Calibri"/>
              </a:rPr>
              <a:t>◆  GridSearchCV tuning on champion only: best params → learning_rate=0.05, max_depth=3, n_estimators=400</a:t>
            </a:r>
          </a:p>
          <a:p>
            <a:pPr algn="l">
              <a:spcBef>
                <a:spcPts val="300"/>
              </a:spcBef>
            </a:pPr>
            <a:r>
              <a:rPr sz="1500">
                <a:solidFill>
                  <a:srgbClr val="2C3E50"/>
                </a:solidFill>
                <a:latin typeface="Calibri"/>
              </a:rPr>
              <a:t>◆  Hold-out (evaluated once):  ROC-AUC 0.9132  ·  Recall 0.8079  at threshold 0.61</a:t>
            </a:r>
          </a:p>
          <a:p>
            <a:pPr algn="l">
              <a:spcBef>
                <a:spcPts val="300"/>
              </a:spcBef>
            </a:pPr>
            <a:r>
              <a:rPr sz="1500">
                <a:solidFill>
                  <a:srgbClr val="2C3E50"/>
                </a:solidFill>
                <a:latin typeface="Calibri"/>
              </a:rPr>
              <a:t>◆  Threshold 0.61 selected to achieve ≥80% recall (FN cost ~$500+ &gt;&gt; FP cost ~$30)</a:t>
            </a:r>
          </a:p>
          <a:p>
            <a:pPr algn="l">
              <a:spcBef>
                <a:spcPts val="300"/>
              </a:spcBef>
            </a:pPr>
            <a:r>
              <a:rPr sz="1500">
                <a:solidFill>
                  <a:srgbClr val="2C3E50"/>
                </a:solidFill>
                <a:latin typeface="Calibri"/>
              </a:rPr>
              <a:t>◆  Tier retention offers by predicted churn probability — concentrate premium spend on highest-risk customers.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91440"/>
            <a:ext cx="11368735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Data Engineering &amp; EDA  (Part 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F8C8D"/>
                </a:solidFill>
                <a:latin typeface="Calibri"/>
              </a:rPr>
              <a:t>CRISP-DM: Data Preparation  |  80/20 stratified split  |  X_test locked until §4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042416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980B9"/>
                </a:solidFill>
                <a:latin typeface="Calibri"/>
              </a:rPr>
              <a:t>EDA Insights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08176"/>
            <a:ext cx="4389120" cy="526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Tenure: New customers (&lt;12 months) highest churn risk — focus retention on year 1.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MonthlyCharges: Churners pay ~$15–20/month more (pricing sensitivity).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Contract type: Month-to-month churn ~42%; two-year contracts &lt;3%.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No missing values; TotalCharges coerced from blank strings.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Churn rate ~22.5% — moderate imbalance addressed by SMOTE inside pipeline.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80/20 stratified train/test split; X_test untouched until §4.</a:t>
            </a:r>
          </a:p>
        </p:txBody>
      </p:sp>
      <p:pic>
        <p:nvPicPr>
          <p:cNvPr id="7" name="Picture 6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042416"/>
            <a:ext cx="6568135" cy="192203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91440"/>
            <a:ext cx="11368735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Leakage-Safe Pipeline Architecture  (Part 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F8C8D"/>
                </a:solidFill>
                <a:latin typeface="Calibri"/>
              </a:rPr>
              <a:t>CRISP-DM: Data Preparation  |  All transforms encapsulated inside sklearn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42416"/>
            <a:ext cx="11368735" cy="196596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133856"/>
            <a:ext cx="1109441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200"/>
              </a:spcBef>
            </a:pPr>
            <a:r>
              <a:rPr sz="1300">
                <a:solidFill>
                  <a:srgbClr val="2C3E50"/>
                </a:solidFill>
                <a:latin typeface="Courier New"/>
              </a:rPr>
              <a:t>ImbPipeline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2C3E50"/>
                </a:solidFill>
                <a:latin typeface="Courier New"/>
              </a:rPr>
              <a:t>  ├── preprocessor  (ColumnTransformer)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2C3E50"/>
                </a:solidFill>
                <a:latin typeface="Courier New"/>
              </a:rPr>
              <a:t>  │     ├── num_pipe  :  StandardScaler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2C3E50"/>
                </a:solidFill>
                <a:latin typeface="Courier New"/>
              </a:rPr>
              <a:t>  │     └── cat_pipe  :  OneHotEncoder  →  SelectPercentile(chi², 50%)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2C3E50"/>
                </a:solidFill>
                <a:latin typeface="Courier New"/>
              </a:rPr>
              <a:t>  ├── smote          :  SMOTE(random_state=42)   ← training fold only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2C3E50"/>
                </a:solidFill>
                <a:latin typeface="Courier New"/>
              </a:rPr>
              <a:t>  └── classifier     :  &lt;champion&gt;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191256"/>
            <a:ext cx="113687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980B9"/>
                </a:solidFill>
                <a:latin typeface="Calibri"/>
              </a:rPr>
              <a:t>Design Decisions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538728"/>
            <a:ext cx="11368735" cy="3209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SMOTE inside pipeline — oversampling applied only to training folds, never to validation data.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SelectPercentile(chi², 50%) — retains top-50% of one-hot columns by χ² association with Churn.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OneHotEncoder(handle_unknown='ignore') — unseen categories in test set silently zeroed.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StandardScaler on numeric features — required for Logistic Regression convergence.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All transforms fit on training fold only; test fold transformed but never fitted.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91440"/>
            <a:ext cx="11368735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Champion Model Selection  (Part 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F8C8D"/>
                </a:solidFill>
                <a:latin typeface="Calibri"/>
              </a:rPr>
              <a:t>5-fold stratified CV at representative defaults  |  ROC-AUC primary, Recall secondary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042416"/>
          <a:ext cx="740664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ROC-AUC (mean±std)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Recall (mean±std)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Logistic Regression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0.9059±0.0011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0.8808±0.0027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0.8872±0.0013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0.7072±0.0024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XGBoost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0.9132±0.0012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0.8245±0.0038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2505456"/>
            <a:ext cx="7498080" cy="3941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ROC-AUC: threshold-independent ranking quality — fair comparison across all families.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Recall: tracks business cost of missed churners (FN). F1/Precision omitted — threshold is set in §4.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SMOTE oversampling inside ImbPipeline — minority class boosted only in training folds.</a:t>
            </a:r>
          </a:p>
        </p:txBody>
      </p:sp>
      <p:pic>
        <p:nvPicPr>
          <p:cNvPr id="7" name="Picture 6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857" y="3675693"/>
            <a:ext cx="6378673" cy="27708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91440"/>
            <a:ext cx="11368735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Champion Justification: XGBoost  (Part 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F8C8D"/>
                </a:solidFill>
                <a:latin typeface="Calibri"/>
              </a:rPr>
              <a:t>Selected by highest 5-fold CV ROC-AUC at default params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42416"/>
            <a:ext cx="11368735" cy="118872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133856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500" b="1">
                <a:solidFill>
                  <a:srgbClr val="2C3E50"/>
                </a:solidFill>
                <a:latin typeface="Calibri"/>
              </a:rPr>
              <a:t>Champion Model:  XGBoost  (Boosting family)</a:t>
            </a:r>
          </a:p>
          <a:p>
            <a:pPr>
              <a:spcBef>
                <a:spcPts val="600"/>
              </a:spcBef>
            </a:pPr>
            <a:r>
              <a:rPr sz="1500" b="0">
                <a:solidFill>
                  <a:srgbClr val="2C3E50"/>
                </a:solidFill>
                <a:latin typeface="Calibri"/>
              </a:rPr>
              <a:t>CV ROC-AUC:      0.9104±0.0014      CV Recall:  0.8582±0.0032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414016"/>
            <a:ext cx="113687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980B9"/>
                </a:solidFill>
                <a:latin typeface="Calibri"/>
              </a:rPr>
              <a:t>Why this champion?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786261"/>
            <a:ext cx="11368735" cy="3986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◆  XGBoost achieved the highest mean CV ROC-AUC across all 3 families.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◆  Low standard deviation across folds → consistent performance, low overfitting risk.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◆  ROC-AUC is threshold-independent — a fair selection criterion before §4 threshold shift.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◆  Boosting family: sequentially corrects errors — strongest on tabular, imbalanced data.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◆  Provides strong baseline for GridSearchCV tuning in §3 (champion-only grid search).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1052426"/>
              </p:ext>
            </p:extLst>
          </p:nvPr>
        </p:nvGraphicFramePr>
        <p:xfrm>
          <a:off x="7243864" y="2414016"/>
          <a:ext cx="4794933" cy="17188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70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18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60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458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Family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  <a:latin typeface="Calibri"/>
                        </a:rPr>
                        <a:t>Rationale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4581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Linear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Logistic Regression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Interpretable baseline; linear decision boundary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4581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Bagging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Variance reduction; built-in feature importance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071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Boosting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XGBoost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2C3E50"/>
                          </a:solidFill>
                          <a:latin typeface="Calibri"/>
                        </a:rPr>
                        <a:t>Sequentially corrects errors; strong on tabular data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91440"/>
            <a:ext cx="11368735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Hyperparameter Tuning  (Part 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F8C8D"/>
                </a:solidFill>
                <a:latin typeface="Calibri"/>
              </a:rPr>
              <a:t>GridSearchCV on champion only  |  ≤50 candidate-config cap  |  n_jobs=2 (SMOTE memory)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042416"/>
          <a:ext cx="685800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Choice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Rationale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Search method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GridSearchCV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Exhaustive over small grids; reproducible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Scope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Champion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One champion declared in §2; tune alone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Iterations cap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≤50 candidate configs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Champion grid ≤12 configs (well within cap)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CV folds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5-fold stratified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Validation repeats, not search iterations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Tune dataset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100k subsample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4–5× faster; refit on full 475k rows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refit metric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roc_auc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Threshold-independent; recall tuned in §4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n_jobs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SMOTE in pipeline — -1 causes memory blow-up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79" y="4012595"/>
            <a:ext cx="40992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2980B9"/>
                </a:solidFill>
                <a:latin typeface="Calibri"/>
              </a:rPr>
              <a:t>Tuning 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443984"/>
            <a:ext cx="4099255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300"/>
              </a:spcBef>
            </a:pPr>
            <a:r>
              <a:rPr sz="1200" dirty="0">
                <a:solidFill>
                  <a:srgbClr val="2C3E50"/>
                </a:solidFill>
                <a:latin typeface="Courier New"/>
              </a:rPr>
              <a:t>Champion:     </a:t>
            </a:r>
            <a:r>
              <a:rPr sz="1200" dirty="0" err="1">
                <a:solidFill>
                  <a:srgbClr val="2C3E50"/>
                </a:solidFill>
                <a:latin typeface="Courier New"/>
              </a:rPr>
              <a:t>XGBoost</a:t>
            </a:r>
            <a:endParaRPr sz="1200" dirty="0">
              <a:solidFill>
                <a:srgbClr val="2C3E50"/>
              </a:solidFill>
              <a:latin typeface="Courier New"/>
            </a:endParaRPr>
          </a:p>
          <a:p>
            <a:pPr>
              <a:spcBef>
                <a:spcPts val="300"/>
              </a:spcBef>
            </a:pPr>
            <a:r>
              <a:rPr sz="1200" dirty="0">
                <a:solidFill>
                  <a:srgbClr val="2C3E50"/>
                </a:solidFill>
                <a:latin typeface="Courier New"/>
              </a:rPr>
              <a:t>Best params:  </a:t>
            </a:r>
            <a:r>
              <a:rPr sz="1200" dirty="0" err="1">
                <a:solidFill>
                  <a:srgbClr val="2C3E50"/>
                </a:solidFill>
                <a:latin typeface="Courier New"/>
              </a:rPr>
              <a:t>learning_rate</a:t>
            </a:r>
            <a:r>
              <a:rPr sz="1200" dirty="0">
                <a:solidFill>
                  <a:srgbClr val="2C3E50"/>
                </a:solidFill>
                <a:latin typeface="Courier New"/>
              </a:rPr>
              <a:t>=0.05, </a:t>
            </a:r>
            <a:r>
              <a:rPr sz="1200" dirty="0" err="1">
                <a:solidFill>
                  <a:srgbClr val="2C3E50"/>
                </a:solidFill>
                <a:latin typeface="Courier New"/>
              </a:rPr>
              <a:t>max_depth</a:t>
            </a:r>
            <a:r>
              <a:rPr sz="1200" dirty="0">
                <a:solidFill>
                  <a:srgbClr val="2C3E50"/>
                </a:solidFill>
                <a:latin typeface="Courier New"/>
              </a:rPr>
              <a:t>=3, </a:t>
            </a:r>
            <a:r>
              <a:rPr sz="1200" dirty="0" err="1">
                <a:solidFill>
                  <a:srgbClr val="2C3E50"/>
                </a:solidFill>
                <a:latin typeface="Courier New"/>
              </a:rPr>
              <a:t>n_estimators</a:t>
            </a:r>
            <a:r>
              <a:rPr sz="1200" dirty="0">
                <a:solidFill>
                  <a:srgbClr val="2C3E50"/>
                </a:solidFill>
                <a:latin typeface="Courier New"/>
              </a:rPr>
              <a:t>=400</a:t>
            </a:r>
          </a:p>
          <a:p>
            <a:pPr>
              <a:spcBef>
                <a:spcPts val="300"/>
              </a:spcBef>
            </a:pPr>
            <a:r>
              <a:rPr sz="1200" dirty="0">
                <a:solidFill>
                  <a:srgbClr val="2C3E50"/>
                </a:solidFill>
                <a:latin typeface="Courier New"/>
              </a:rPr>
              <a:t>CV ROC-AUC:  0.9104±0.0014</a:t>
            </a:r>
          </a:p>
          <a:p>
            <a:pPr>
              <a:spcBef>
                <a:spcPts val="300"/>
              </a:spcBef>
            </a:pPr>
            <a:r>
              <a:rPr sz="1200" dirty="0">
                <a:solidFill>
                  <a:srgbClr val="2C3E50"/>
                </a:solidFill>
                <a:latin typeface="Courier New"/>
              </a:rPr>
              <a:t>CV Recall:    0.8582±0.0032</a:t>
            </a:r>
          </a:p>
          <a:p>
            <a:pPr>
              <a:spcBef>
                <a:spcPts val="300"/>
              </a:spcBef>
            </a:pPr>
            <a:endParaRPr sz="1200" dirty="0">
              <a:solidFill>
                <a:srgbClr val="2C3E50"/>
              </a:solidFill>
              <a:latin typeface="Courier New"/>
            </a:endParaRPr>
          </a:p>
          <a:p>
            <a:pPr>
              <a:spcBef>
                <a:spcPts val="300"/>
              </a:spcBef>
            </a:pPr>
            <a:r>
              <a:rPr sz="1200" dirty="0">
                <a:solidFill>
                  <a:srgbClr val="2C3E50"/>
                </a:solidFill>
                <a:latin typeface="Courier New"/>
              </a:rPr>
              <a:t>Refit: clone(</a:t>
            </a:r>
            <a:r>
              <a:rPr sz="1200" dirty="0" err="1">
                <a:solidFill>
                  <a:srgbClr val="2C3E50"/>
                </a:solidFill>
                <a:latin typeface="Courier New"/>
              </a:rPr>
              <a:t>best_estimator</a:t>
            </a:r>
            <a:r>
              <a:rPr sz="1200" dirty="0">
                <a:solidFill>
                  <a:srgbClr val="2C3E50"/>
                </a:solidFill>
                <a:latin typeface="Courier New"/>
              </a:rPr>
              <a:t>_)</a:t>
            </a:r>
          </a:p>
          <a:p>
            <a:pPr>
              <a:spcBef>
                <a:spcPts val="300"/>
              </a:spcBef>
            </a:pPr>
            <a:r>
              <a:rPr sz="1200" dirty="0">
                <a:solidFill>
                  <a:srgbClr val="2C3E50"/>
                </a:solidFill>
                <a:latin typeface="Courier New"/>
              </a:rPr>
              <a:t>       .fit(</a:t>
            </a:r>
            <a:r>
              <a:rPr sz="1200" dirty="0" err="1">
                <a:solidFill>
                  <a:srgbClr val="2C3E50"/>
                </a:solidFill>
                <a:latin typeface="Courier New"/>
              </a:rPr>
              <a:t>X_train</a:t>
            </a:r>
            <a:r>
              <a:rPr sz="1200" dirty="0">
                <a:solidFill>
                  <a:srgbClr val="2C3E50"/>
                </a:solidFill>
                <a:latin typeface="Courier New"/>
              </a:rPr>
              <a:t>, </a:t>
            </a:r>
            <a:r>
              <a:rPr sz="1200" dirty="0" err="1">
                <a:solidFill>
                  <a:srgbClr val="2C3E50"/>
                </a:solidFill>
                <a:latin typeface="Courier New"/>
              </a:rPr>
              <a:t>y_train</a:t>
            </a:r>
            <a:r>
              <a:rPr sz="1200" dirty="0">
                <a:solidFill>
                  <a:srgbClr val="2C3E50"/>
                </a:solidFill>
                <a:latin typeface="Courier New"/>
              </a:rPr>
              <a:t>)</a:t>
            </a:r>
          </a:p>
          <a:p>
            <a:pPr>
              <a:spcBef>
                <a:spcPts val="300"/>
              </a:spcBef>
            </a:pPr>
            <a:r>
              <a:rPr sz="1200" dirty="0">
                <a:solidFill>
                  <a:srgbClr val="2C3E50"/>
                </a:solidFill>
                <a:latin typeface="Courier New"/>
              </a:rPr>
              <a:t>       → full 475k rows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91440"/>
            <a:ext cx="11368735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Final Model Stability  (Part B → Part 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F8C8D"/>
                </a:solidFill>
                <a:latin typeface="Calibri"/>
              </a:rPr>
              <a:t>CV cross-validated scores (train)  +  Hold-out evaluation (test, accessed once)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042416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980B9"/>
                </a:solidFill>
                <a:latin typeface="Calibri"/>
              </a:rPr>
              <a:t>5-fold CV Scores (defaults)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389888"/>
          <a:ext cx="548640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ROC-AUC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Logistic Regression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0.9059±0.0011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0.8808±0.0027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0.8872±0.0013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0.7072±0.0024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XGBoost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0.9132±0.0012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0.8245±0.0038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2871216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980B9"/>
                </a:solidFill>
                <a:latin typeface="Calibri"/>
              </a:rPr>
              <a:t>Hold-Out Test Metrics  (threshold = 0.61)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3218688"/>
          <a:ext cx="320040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ROC-AUC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0.9132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0.8079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Balanced Accuracy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0.8292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9" name="Picture 8" descr="fig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042416"/>
            <a:ext cx="5470855" cy="527191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91440"/>
            <a:ext cx="11368735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Business Decision Reasoning  (Part 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F8C8D"/>
                </a:solidFill>
                <a:latin typeface="Calibri"/>
              </a:rPr>
              <a:t>CRISP-DM: Deployment  |  Asymmetric error costs  |  Threshold shift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04241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980B9"/>
                </a:solidFill>
                <a:latin typeface="Calibri"/>
              </a:rPr>
              <a:t>Asymmetric Error Costs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389888"/>
          <a:ext cx="5669280" cy="1018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Error Type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Consequence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Severity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False Negative — miss a churner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Customer leaves uncontacted → lost LTV (~$500+)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CRITICAL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False Positive — flag loyal customer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Wasted retention offer (~$30 voucher)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Moderate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264261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980B9"/>
                </a:solidFill>
                <a:latin typeface="Calibri"/>
              </a:rPr>
              <a:t>Threshold Decision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990088"/>
            <a:ext cx="5669280" cy="3758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FN cost &gt;&gt; FP cost → lower classification threshold below default 0.50.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Selected threshold 0.61: achieves ≥80% recall on validation folds.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At threshold 0.61: Recall 0.8079 on hold-out — 81% of real churners flagged for intervention.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Tier retention offers by predicted churn probability — concentrate premium spend on highest-risk customers.</a:t>
            </a:r>
          </a:p>
        </p:txBody>
      </p:sp>
      <p:pic>
        <p:nvPicPr>
          <p:cNvPr id="9" name="Picture 8" descr="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042416"/>
            <a:ext cx="5287975" cy="2063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91440"/>
            <a:ext cx="11368735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Individual 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F8C8D"/>
                </a:solidFill>
                <a:latin typeface="Calibri"/>
              </a:rPr>
              <a:t>Balanced primary/secondary split  |  seed=42 (change CONTRIB_SEED to re-roll)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8233781"/>
              </p:ext>
            </p:extLst>
          </p:nvPr>
        </p:nvGraphicFramePr>
        <p:xfrm>
          <a:off x="411480" y="1042416"/>
          <a:ext cx="10515600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Work Area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Primary Owner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Secondary Support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Part A: Pipeline Engineering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KhoonSeng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Joyce Yeo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Part A: EDA &amp; Data Quality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Joyce Yeo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3E50"/>
                          </a:solidFill>
                          <a:latin typeface="+mn-lt"/>
                        </a:rPr>
                        <a:t>Lai Kin Wah</a:t>
                      </a:r>
                      <a:endParaRPr sz="1000" dirty="0">
                        <a:solidFill>
                          <a:srgbClr val="2C3E50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Part B: Model Selection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3E50"/>
                          </a:solidFill>
                          <a:latin typeface="Calibri"/>
                        </a:rPr>
                        <a:t>Lai Kin Wah</a:t>
                      </a:r>
                      <a:endParaRPr sz="1000" dirty="0">
                        <a:solidFill>
                          <a:srgbClr val="2C3E50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KhoonSeng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Part C: Hyperparameter Tuning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KhoonSeng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Joyce Yeo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Part E: Business Decision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2C3E50"/>
                          </a:solidFill>
                          <a:latin typeface="Calibri"/>
                        </a:rPr>
                        <a:t>Joyce Yeo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3E50"/>
                          </a:solidFill>
                          <a:latin typeface="+mn-lt"/>
                        </a:rPr>
                        <a:t>Lai Kin Wah</a:t>
                      </a:r>
                      <a:endParaRPr sz="1000" dirty="0">
                        <a:solidFill>
                          <a:srgbClr val="2C3E50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EB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Report &amp; Slides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3E50"/>
                          </a:solidFill>
                          <a:latin typeface="Calibri"/>
                        </a:rPr>
                        <a:t>Lai Kin Wah</a:t>
                      </a:r>
                      <a:endParaRPr sz="1000" dirty="0">
                        <a:solidFill>
                          <a:srgbClr val="2C3E50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 err="1">
                          <a:solidFill>
                            <a:srgbClr val="2C3E50"/>
                          </a:solidFill>
                          <a:latin typeface="Calibri"/>
                        </a:rPr>
                        <a:t>KhoonSeng</a:t>
                      </a:r>
                      <a:endParaRPr sz="1000" dirty="0">
                        <a:solidFill>
                          <a:srgbClr val="2C3E50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1098</Words>
  <Application>Microsoft Macintosh PowerPoint</Application>
  <PresentationFormat>Widescreen</PresentationFormat>
  <Paragraphs>177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kin wah lai</cp:lastModifiedBy>
  <cp:revision>7</cp:revision>
  <dcterms:created xsi:type="dcterms:W3CDTF">2013-01-27T09:14:16Z</dcterms:created>
  <dcterms:modified xsi:type="dcterms:W3CDTF">2026-06-19T15:32:44Z</dcterms:modified>
  <cp:category/>
</cp:coreProperties>
</file>