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687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Telco Customer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11368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ICT6001C — AI Programme | Week 1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113687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ED6F1"/>
                </a:solidFill>
                <a:latin typeface="Calibri"/>
              </a:rPr>
              <a:t>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06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  YEO XIU JUAN (ID: 2570472)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71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  LIM KHOON SENG (ID: 2570459)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37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  LAI KIN WAH (ID: 2570461)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80B9"/>
                </a:solidFill>
                <a:latin typeface="Calibri"/>
              </a:rPr>
              <a:t>Repo :  https://github.com/kinwahlai/ICT6001C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8932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80B9"/>
                </a:solidFill>
                <a:latin typeface="Calibri"/>
              </a:rPr>
              <a:t>Data :  https://www.kaggle.com/competitions/playground-series-s6e3/data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0936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80B9"/>
                </a:solidFill>
                <a:latin typeface="Calibri"/>
              </a:rPr>
              <a:t>Video:  &lt;YouTube link&gt;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8735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◆  Dataset: 594,194 Telco customers  |  Churn rate ~22.5%  |  Class imbalance handled with SMOTE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◆  3 model families compared via 5-fold stratified CV (ROC-AUC primary, Recall secondary)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◆  Champion: XGBoost (Boosting) — highest CV ROC-AUC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◆  Champion tuned via GridSearchCV (champion-only, ≤50-config budget); CV ROC-AUC 0.9104±0.0014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◆  Hold-out (evaluated once):  ROC-AUC 0.9132  ·  Recall 0.8079  at threshold 0.61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◆  Threshold 0.61 = highest cut still holding ≥80% recall; FN far costlier than FP, and SMOTE lifts probabilities above 0.50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◆  Tier retention offers by predicted churn probability — concentrate premium spend on highest-risk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Engineering &amp; EDA  (Part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CRISP-DM: Data Preparation  |  80/20 stratified split  |  X_test locked until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EDA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08176"/>
            <a:ext cx="4389120" cy="5266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Tenure: New customers (&lt;12 months) highest churn risk — focus retention on year 1.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MonthlyCharges: Churners pay ~$15–20/month more (pricing sensitivity).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Contract type: Month-to-month churn ~42%; two-year contracts &lt;3%.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No missing values; TotalCharges coerced from blank strings.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Churn rate ~22.5% — moderate imbalance addressed by SMOTE inside pipeline.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80/20 stratified train/test split; X_test untouched until §4.</a:t>
            </a:r>
          </a:p>
        </p:txBody>
      </p:sp>
      <p:pic>
        <p:nvPicPr>
          <p:cNvPr id="7" name="Picture 6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042416"/>
            <a:ext cx="6568135" cy="19220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Leakage-Safe Pipeline Architecture  (Part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CRISP-DM: Data Preparation  |  All transforms encapsulated inside sklearn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6"/>
            <a:ext cx="256032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BEFORE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2560320" cy="166420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481328"/>
            <a:ext cx="24505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  <a:latin typeface="Calibri"/>
              </a:rPr>
              <a:t>•  Coerce TotalCharges to numeric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  <a:latin typeface="Calibri"/>
              </a:rPr>
              <a:t>•  Map target: Yes → 1, No → 0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  <a:latin typeface="Calibri"/>
              </a:rPr>
              <a:t>•  Drop ID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47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80B9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42416"/>
            <a:ext cx="201168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097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80 / 20 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89888"/>
            <a:ext cx="2011680" cy="166420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81328"/>
            <a:ext cx="19019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  <a:latin typeface="Calibri"/>
              </a:rPr>
              <a:t>•  Stratified by Churn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  <a:latin typeface="Calibri"/>
              </a:rPr>
              <a:t>•  Seed = 42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  <a:latin typeface="Calibri"/>
              </a:rPr>
              <a:t>•  Test set locked until §4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847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80B9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042416"/>
            <a:ext cx="5973775" cy="347472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1097280"/>
            <a:ext cx="5882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INSIDE PIPELINE  (per CV fold)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389888"/>
            <a:ext cx="5973775" cy="166420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1481328"/>
            <a:ext cx="586404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  Numeric  →  StandardScaler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  Categorical  →  OneHotEncoder  →  χ² top-50%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  ↓  SMOTE  (training fold only)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  ↓  XGBoost champion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28269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Design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630168"/>
            <a:ext cx="11368735" cy="3118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SMOTE runs inside the pipeline — oversampling touches training folds only, never validation/test.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χ² feature selection keeps the top-50% of encoded categories most associated with churn.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Numeric features scaled so Logistic Regression converges; trees are scale-invariant.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Every transform is fit on the training fold only — the test set is untouched until §4.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Champion Model Selection  (Part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5-fold stratified CV at representative defaults  |  ROC-AUC primary, Recall secondary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42416"/>
          <a:ext cx="74066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  <a:gridCol w="210312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ROC-AUC (mean±std)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 (mean±std)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0.9059±0.0011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0.8808±0.0027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0.8872±0.0013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0.7072±0.0024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0.9132±0.0012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0.8245±0.0038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2505456"/>
            <a:ext cx="7498080" cy="394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ROC-AUC: threshold-independent ranking quality — fair comparison across all families.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Recall: tracks business cost of missed churners (FN). F1/Precision omitted — threshold is set in §4.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SMOTE oversampling inside ImbPipeline — minority class boosted only in training folds.</a:t>
            </a:r>
          </a:p>
        </p:txBody>
      </p:sp>
      <p:pic>
        <p:nvPicPr>
          <p:cNvPr id="7" name="Picture 6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42416"/>
            <a:ext cx="3550615" cy="15423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Champion Justification: XGBoost  (Part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Selected by highest 5-fold CV ROC-AUC at default params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6"/>
            <a:ext cx="11368735" cy="11887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>
                <a:solidFill>
                  <a:srgbClr val="2C3E50"/>
                </a:solidFill>
                <a:latin typeface="Calibri"/>
              </a:rPr>
              <a:t>Champion Model:  XGBoost  (Boosting family)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2C3E50"/>
                </a:solidFill>
                <a:latin typeface="Calibri"/>
              </a:rPr>
              <a:t>CV ROC-AUC:      0.9104±0.0014      CV Recall:  0.8582±0.0032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140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Why this champion?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79776"/>
            <a:ext cx="113687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◆  XGBoost achieved the highest mean CV ROC-AUC across all 3 families.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◆  Low standard deviation across folds → consistent performance, low overfitting risk.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◆  ROC-AUC is threshold-independent — a fair selection criterion before §4 threshold shift.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◆  Boosting family: sequentially corrects errors — strongest on tabular, imbalanced data.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◆  Provides strong baseline for GridSearchCV tuning in §3 (champion-only grid search).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79145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Model families considered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5157216"/>
          <a:ext cx="113385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713232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Interpretable baseline; linear decision boundary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Bagging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Variance reduction; built-in feature 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Boosting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Sequentially corrects errors; strong on tabular data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Hyperparameter Tuning  (Part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GridSearchCV on champion only  |  ≤50 candidate-config cap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42416"/>
          <a:ext cx="68580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Search method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GridSearchCV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Exhaustive over small grids; reproducible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Champion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One champion declared in §2; tune 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Iterations cap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≤50 candidate configs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Champion grid ≤12 configs (well within cap)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CV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5-fold stratified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Validation repeats, not search iterations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Tune dataset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100k subsample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4–5× faster; refit on full 475k rows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refit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roc_auc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Threshold-independent; recall tuned in §4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042416"/>
            <a:ext cx="4099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Tuning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408176"/>
            <a:ext cx="40992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Champion:     XGBoost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Best params:  learning_rate=0.05, max_depth=3, n_estimators=400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CV ROC-AUC:  0.9104±0.0014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CV Recall:    0.8582±0.0032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Refit best config on full 475k-row train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Final Model Stability  (Part B → Part 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CV cross-validated scores (train)  +  Hold-out evaluation (test, accessed once)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5-fold CV Scores (defaults)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89888"/>
          <a:ext cx="54864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0.9059±0.0011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0.8808±0.0027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0.8872±0.0013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0.7072±0.0024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0.9132±0.0012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0.8245±0.0038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28712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Hold-Out Test Metrics  (threshold = 0.61)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3218688"/>
          <a:ext cx="32004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0.9132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0.8079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Balanced Accuracy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0.8292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42416"/>
            <a:ext cx="5470855" cy="52719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 Decision Reasoning  (Part 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CRISP-DM: Deployment  |  Asymmetric error costs  |  Threshold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Asymmetric Error Costs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89888"/>
          <a:ext cx="566928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Error Type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False Negative — miss a churner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Customer leaves uncontacted → lost lifetime value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False Positive — flag loyal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Wasted retention offer — comparatively cheap, recoverable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26426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Threshold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990088"/>
            <a:ext cx="5669280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FN far costlier than FP → prioritise recall; require recall ≥ 80%.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Among thresholds meeting the floor, 0.61 is the highest — limits false positives.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SMOTE inflates predicted probabilities, so the operating point sits above 0.50, not below.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At threshold 0.61: Recall 0.8079 on hold-out — 81% of real churners flagged for intervention.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◆  Tier retention offers by predicted churn probability — concentrate premium spend on highest-risk customers.</a:t>
            </a:r>
          </a:p>
        </p:txBody>
      </p:sp>
      <p:pic>
        <p:nvPicPr>
          <p:cNvPr id="9" name="Picture 8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42416"/>
            <a:ext cx="5287975" cy="206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Individual Contributions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749808"/>
          <a:ext cx="41148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Student ID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2570472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2570459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LAI KIN WAH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2570461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212848"/>
          <a:ext cx="105156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2004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 Area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Primary Owner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Secondary Support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Part A: Pipeline Engineering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Part A: EDA &amp; Data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LAI KIN WAH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Part B: Model Selection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Part C: Hyperparameter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Part E: Business Decision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LAI KIN WAH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Report &amp; Slides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LAI KIN WAH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